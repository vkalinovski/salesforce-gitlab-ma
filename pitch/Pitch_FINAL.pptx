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0" y="182880"/>
            <a:ext cx="3474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9717A"/>
                </a:solidFill>
                <a:latin typeface="Aptos"/>
              </a:rPr>
              <a:t>STRATEGIC COMBINATION ANALYSIS</a:t>
            </a:r>
          </a:p>
        </p:txBody>
      </p:sp>
      <p:pic>
        <p:nvPicPr>
          <p:cNvPr id="3" name="Picture 2" descr="web_image_5341af2d07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822960"/>
            <a:ext cx="1763486" cy="1234440"/>
          </a:xfrm>
          <a:prstGeom prst="rect">
            <a:avLst/>
          </a:prstGeom>
        </p:spPr>
      </p:pic>
      <p:pic>
        <p:nvPicPr>
          <p:cNvPr id="4" name="Picture 3" descr="web_image_543689aaa1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115568"/>
            <a:ext cx="3474720" cy="7599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92040" y="1325880"/>
            <a:ext cx="822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69717A"/>
                </a:solidFill>
                <a:latin typeface="Aptos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65836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22C49"/>
                </a:solidFill>
                <a:latin typeface="Aptos"/>
              </a:rPr>
              <a:t>Salesforce → GitLab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9144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9717A"/>
                </a:solidFill>
                <a:latin typeface="Aptos"/>
              </a:rPr>
              <a:t>Should Salesforce acquire GitLab, at what price, and on what terms?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22C49"/>
                </a:solidFill>
                <a:latin typeface="Aptos"/>
              </a:rPr>
              <a:t>Strategic fit exists, but the modeled acquisition does not clear the valuation or EPS 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7498079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E7C89"/>
                </a:solidFill>
                <a:latin typeface="Aptos"/>
              </a:rPr>
              <a:t>Illustrative offer $62.29 / share   -   Equity consideration $10.73bn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93792"/>
            <a:ext cx="9875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6181D"/>
                </a:solidFill>
                <a:latin typeface="Aptos"/>
              </a:rPr>
              <a:t>Investment view: defer acquisition at the modeled offer; validate strategic upside through partnership.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06440"/>
            <a:ext cx="80467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9717A"/>
                </a:solidFill>
                <a:latin typeface="Aptos"/>
              </a:rPr>
              <a:t>September 2026 | USD millions unless otherwise stated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E7C89"/>
                </a:solidFill>
                <a:latin typeface="Aptos"/>
              </a:rPr>
              <a:t>SALESFORCE  →  GITLAB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16459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EXECUTIVE 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57200"/>
            <a:ext cx="11384280" cy="18288"/>
          </a:xfrm>
          <a:prstGeom prst="rect">
            <a:avLst/>
          </a:prstGeom>
          <a:solidFill>
            <a:srgbClr val="DF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94944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500" b="1">
                <a:solidFill>
                  <a:srgbClr val="122C49"/>
                </a:solidFill>
                <a:latin typeface="Aptos"/>
              </a:rPr>
              <a:t>Defer acquisition at the modeled offer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53312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00400"/>
                <a:gridCol w="5486400"/>
              </a:tblGrid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FFFFFF"/>
                          </a:solidFill>
                          <a:latin typeface="Aptos"/>
                        </a:rPr>
                        <a:t>Topic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FFFFFF"/>
                          </a:solidFill>
                          <a:latin typeface="Aptos"/>
                        </a:rPr>
                        <a:t>Output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FFFFFF"/>
                          </a:solidFill>
                          <a:latin typeface="Aptos"/>
                        </a:rPr>
                        <a:t>Banker view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171A1F"/>
                          </a:solidFill>
                          <a:latin typeface="Aptos"/>
                        </a:rPr>
                        <a:t>Transaction value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171A1F"/>
                          </a:solidFill>
                          <a:latin typeface="Aptos"/>
                        </a:rPr>
                        <a:t>$9.57bn EV / $10.73bn equity value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ptos"/>
                        </a:rPr>
                        <a:t>Control premium requires underwritten cash returns above consideration and fees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171A1F"/>
                          </a:solidFill>
                          <a:latin typeface="Aptos"/>
                        </a:rPr>
                        <a:t>Intrinsic value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171A1F"/>
                          </a:solidFill>
                          <a:latin typeface="Aptos"/>
                        </a:rPr>
                        <a:t>$20.31/share Gordon DCF; $33.24/share exit multiple DCF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171A1F"/>
                          </a:solidFill>
                          <a:latin typeface="Aptos"/>
                        </a:rPr>
                        <a:t>Base DCF is materially below both the offer and the reference market price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171A1F"/>
                          </a:solidFill>
                          <a:latin typeface="Aptos"/>
                        </a:rPr>
                        <a:t>EPS impact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171A1F"/>
                          </a:solidFill>
                          <a:latin typeface="Aptos"/>
                        </a:rPr>
                        <a:t>(9.7%) / (7.6%) / (5.9%) recurring dilution in Years 1-3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171A1F"/>
                          </a:solidFill>
                          <a:latin typeface="Aptos"/>
                        </a:rPr>
                        <a:t>Dilution remains meaningful through Year 3 after SBC and purchase accounting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171A1F"/>
                          </a:solidFill>
                          <a:latin typeface="Aptos"/>
                        </a:rPr>
                        <a:t>Break-even economics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171A1F"/>
                          </a:solidFill>
                          <a:latin typeface="Aptos"/>
                        </a:rPr>
                        <a:t>$24.03/share economic break-even; $19.84/share Year 3 EPS-neutral offer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ptos"/>
                        </a:rPr>
                        <a:t>Consideration requires higher synergies, better terms, or lower entry price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E7C89"/>
                </a:solidFill>
                <a:latin typeface="Aptos"/>
              </a:rPr>
              <a:t>SALESFORCE  →  GITLAB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16459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STRATEGIC RATIONALE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57200"/>
            <a:ext cx="11384280" cy="18288"/>
          </a:xfrm>
          <a:prstGeom prst="rect">
            <a:avLst/>
          </a:prstGeom>
          <a:solidFill>
            <a:srgbClr val="DF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94944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500" b="1">
                <a:solidFill>
                  <a:srgbClr val="122C49"/>
                </a:solidFill>
                <a:latin typeface="Aptos"/>
              </a:rPr>
              <a:t>Validate strategic fit through partnership first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53312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931920"/>
                <a:gridCol w="4206240"/>
              </a:tblGrid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FFFFFF"/>
                          </a:solidFill>
                          <a:latin typeface="Aptos"/>
                        </a:rPr>
                        <a:t>Potential benefit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FFFFFF"/>
                          </a:solidFill>
                          <a:latin typeface="Aptos"/>
                        </a:rPr>
                        <a:t>Why ownership may help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ptos"/>
                        </a:rPr>
                        <a:t>Partnership alternative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171A1F"/>
                          </a:solidFill>
                          <a:latin typeface="Aptos"/>
                        </a:rPr>
                        <a:t>Engineering workflow in Slack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171A1F"/>
                          </a:solidFill>
                          <a:latin typeface="Aptos"/>
                        </a:rPr>
                        <a:t>Embed secure development activity into collaboration workflows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171A1F"/>
                          </a:solidFill>
                          <a:latin typeface="Aptos"/>
                        </a:rPr>
                        <a:t>Joint integration and distribution agreement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171A1F"/>
                          </a:solidFill>
                          <a:latin typeface="Aptos"/>
                        </a:rPr>
                        <a:t>Enterprise AI governance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171A1F"/>
                          </a:solidFill>
                          <a:latin typeface="Aptos"/>
                        </a:rPr>
                        <a:t>Link business context with software delivery controls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171A1F"/>
                          </a:solidFill>
                          <a:latin typeface="Aptos"/>
                        </a:rPr>
                        <a:t>Paid pilot with selected enterprise customers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171A1F"/>
                          </a:solidFill>
                          <a:latin typeface="Aptos"/>
                        </a:rPr>
                        <a:t>Enterprise procurement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171A1F"/>
                          </a:solidFill>
                          <a:latin typeface="Aptos"/>
                        </a:rPr>
                        <a:t>Access Salesforce large-account coverage and procurement channels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171A1F"/>
                          </a:solidFill>
                          <a:latin typeface="Aptos"/>
                        </a:rPr>
                        <a:t>Co-sell arrangement with independent roadmap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171A1F"/>
                          </a:solidFill>
                          <a:latin typeface="Aptos"/>
                        </a:rPr>
                        <a:t>Developer trust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171A1F"/>
                          </a:solidFill>
                          <a:latin typeface="Aptos"/>
                        </a:rPr>
                        <a:t>Fund product, reliability and security roadmap at scale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171A1F"/>
                          </a:solidFill>
                          <a:latin typeface="Aptos"/>
                        </a:rPr>
                        <a:t>Preserve vendor neutrality and open-core identity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E7C89"/>
                </a:solidFill>
                <a:latin typeface="Aptos"/>
              </a:rPr>
              <a:t>SALESFORCE  →  GITLAB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16459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COMPANY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57200"/>
            <a:ext cx="11384280" cy="18288"/>
          </a:xfrm>
          <a:prstGeom prst="rect">
            <a:avLst/>
          </a:prstGeom>
          <a:solidFill>
            <a:srgbClr val="DF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94944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500" b="1">
                <a:solidFill>
                  <a:srgbClr val="122C49"/>
                </a:solidFill>
                <a:latin typeface="Aptos"/>
              </a:rPr>
              <a:t>Salesforce has capacity; GitLab remains a small loss-making target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353312"/>
          <a:ext cx="1033271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291840"/>
                <a:gridCol w="3291840"/>
              </a:tblGrid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220" b="1">
                          <a:solidFill>
                            <a:srgbClr val="FFFFFF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20" b="1">
                          <a:solidFill>
                            <a:srgbClr val="FFFFFF"/>
                          </a:solidFill>
                          <a:latin typeface="Aptos"/>
                        </a:rPr>
                        <a:t>Salesforce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20" b="1">
                          <a:solidFill>
                            <a:srgbClr val="FFFFFF"/>
                          </a:solidFill>
                          <a:latin typeface="Aptos"/>
                        </a:rPr>
                        <a:t>GitLab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220" b="1">
                          <a:solidFill>
                            <a:srgbClr val="171A1F"/>
                          </a:solidFill>
                          <a:latin typeface="Aptos"/>
                        </a:rPr>
                        <a:t>FY2026 revenue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171A1F"/>
                          </a:solidFill>
                          <a:latin typeface="Aptos"/>
                        </a:rPr>
                        <a:t>$41,525.0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171A1F"/>
                          </a:solidFill>
                          <a:latin typeface="Aptos"/>
                        </a:rPr>
                        <a:t>$955.2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220" b="1">
                          <a:solidFill>
                            <a:srgbClr val="171A1F"/>
                          </a:solidFill>
                          <a:latin typeface="Aptos"/>
                        </a:rPr>
                        <a:t>LTM revenue to Jul-26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171A1F"/>
                          </a:solidFill>
                          <a:latin typeface="Aptos"/>
                        </a:rPr>
                        <a:t>$43,938.0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171A1F"/>
                          </a:solidFill>
                          <a:latin typeface="Aptos"/>
                        </a:rPr>
                        <a:t>$1,055.2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220" b="1">
                          <a:solidFill>
                            <a:srgbClr val="171A1F"/>
                          </a:solidFill>
                          <a:latin typeface="Aptos"/>
                        </a:rPr>
                        <a:t>LTM GAAP operating margin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171A1F"/>
                          </a:solidFill>
                          <a:latin typeface="Aptos"/>
                        </a:rPr>
                        <a:t>19.9%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171A1F"/>
                          </a:solidFill>
                          <a:latin typeface="Aptos"/>
                        </a:rPr>
                        <a:t>(8.5%)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220" b="1">
                          <a:solidFill>
                            <a:srgbClr val="171A1F"/>
                          </a:solidFill>
                          <a:latin typeface="Aptos"/>
                        </a:rPr>
                        <a:t>July cash + liquid securities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171A1F"/>
                          </a:solidFill>
                          <a:latin typeface="Aptos"/>
                        </a:rPr>
                        <a:t>$11,403.0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171A1F"/>
                          </a:solidFill>
                          <a:latin typeface="Aptos"/>
                        </a:rPr>
                        <a:t>$1,257.0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220" b="1">
                          <a:solidFill>
                            <a:srgbClr val="171A1F"/>
                          </a:solidFill>
                          <a:latin typeface="Aptos"/>
                        </a:rPr>
                        <a:t>July reported debt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171A1F"/>
                          </a:solidFill>
                          <a:latin typeface="Aptos"/>
                        </a:rPr>
                        <a:t>$39,288.0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20" b="0">
                          <a:solidFill>
                            <a:srgbClr val="171A1F"/>
                          </a:solidFill>
                          <a:latin typeface="Aptos"/>
                        </a:rPr>
                        <a:t>$0.0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E7C89"/>
                </a:solidFill>
                <a:latin typeface="Aptos"/>
              </a:rPr>
              <a:t>SALESFORCE  →  GITLAB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16459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QUALITY OF EARNINGS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57200"/>
            <a:ext cx="11384280" cy="18288"/>
          </a:xfrm>
          <a:prstGeom prst="rect">
            <a:avLst/>
          </a:prstGeom>
          <a:solidFill>
            <a:srgbClr val="DF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94944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500" b="1">
                <a:solidFill>
                  <a:srgbClr val="122C49"/>
                </a:solidFill>
                <a:latin typeface="Aptos"/>
              </a:rPr>
              <a:t>GitLab growth has not yet converted into GAAP profitability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53312"/>
          <a:ext cx="10881356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88819"/>
                <a:gridCol w="1988819"/>
                <a:gridCol w="1988819"/>
                <a:gridCol w="1988819"/>
              </a:tblGrid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210" b="1">
                          <a:solidFill>
                            <a:srgbClr val="FFFFFF"/>
                          </a:solidFill>
                          <a:latin typeface="Aptos"/>
                        </a:rPr>
                        <a:t>USD millions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10" b="1">
                          <a:solidFill>
                            <a:srgbClr val="FFFFFF"/>
                          </a:solidFill>
                          <a:latin typeface="Aptos"/>
                        </a:rPr>
                        <a:t>FY2024A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10" b="1">
                          <a:solidFill>
                            <a:srgbClr val="FFFFFF"/>
                          </a:solidFill>
                          <a:latin typeface="Aptos"/>
                        </a:rPr>
                        <a:t>FY2025A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10" b="1">
                          <a:solidFill>
                            <a:srgbClr val="FFFFFF"/>
                          </a:solidFill>
                          <a:latin typeface="Aptos"/>
                        </a:rPr>
                        <a:t>FY2026A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10" b="1">
                          <a:solidFill>
                            <a:srgbClr val="FFFFFF"/>
                          </a:solidFill>
                          <a:latin typeface="Aptos"/>
                        </a:rPr>
                        <a:t>LTM Jul-26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210" b="1">
                          <a:solidFill>
                            <a:srgbClr val="171A1F"/>
                          </a:solidFill>
                          <a:latin typeface="Aptos"/>
                        </a:rPr>
                        <a:t>Revenue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10" b="0">
                          <a:solidFill>
                            <a:srgbClr val="171A1F"/>
                          </a:solidFill>
                          <a:latin typeface="Aptos"/>
                        </a:rPr>
                        <a:t>579.9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10" b="0">
                          <a:solidFill>
                            <a:srgbClr val="171A1F"/>
                          </a:solidFill>
                          <a:latin typeface="Aptos"/>
                        </a:rPr>
                        <a:t>759.2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10" b="0">
                          <a:solidFill>
                            <a:srgbClr val="171A1F"/>
                          </a:solidFill>
                          <a:latin typeface="Aptos"/>
                        </a:rPr>
                        <a:t>955.2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10" b="0">
                          <a:solidFill>
                            <a:srgbClr val="171A1F"/>
                          </a:solidFill>
                          <a:latin typeface="Aptos"/>
                        </a:rPr>
                        <a:t>1,055.2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210" b="1">
                          <a:solidFill>
                            <a:srgbClr val="171A1F"/>
                          </a:solidFill>
                          <a:latin typeface="Aptos"/>
                        </a:rPr>
                        <a:t>GAAP EBIT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10" b="0">
                          <a:solidFill>
                            <a:srgbClr val="171A1F"/>
                          </a:solidFill>
                          <a:latin typeface="Aptos"/>
                        </a:rPr>
                        <a:t>(187.4)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10" b="0">
                          <a:solidFill>
                            <a:srgbClr val="171A1F"/>
                          </a:solidFill>
                          <a:latin typeface="Aptos"/>
                        </a:rPr>
                        <a:t>(142.7)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10" b="0">
                          <a:solidFill>
                            <a:srgbClr val="171A1F"/>
                          </a:solidFill>
                          <a:latin typeface="Aptos"/>
                        </a:rPr>
                        <a:t>(70.5)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10" b="0">
                          <a:solidFill>
                            <a:srgbClr val="171A1F"/>
                          </a:solidFill>
                          <a:latin typeface="Aptos"/>
                        </a:rPr>
                        <a:t>(90.2)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210" b="1">
                          <a:solidFill>
                            <a:srgbClr val="171A1F"/>
                          </a:solidFill>
                          <a:latin typeface="Aptos"/>
                        </a:rPr>
                        <a:t>SBC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10" b="0">
                          <a:solidFill>
                            <a:srgbClr val="171A1F"/>
                          </a:solidFill>
                          <a:latin typeface="Aptos"/>
                        </a:rPr>
                        <a:t>163.0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10" b="0">
                          <a:solidFill>
                            <a:srgbClr val="171A1F"/>
                          </a:solidFill>
                          <a:latin typeface="Aptos"/>
                        </a:rPr>
                        <a:t>185.9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10" b="0">
                          <a:solidFill>
                            <a:srgbClr val="171A1F"/>
                          </a:solidFill>
                          <a:latin typeface="Aptos"/>
                        </a:rPr>
                        <a:t>215.0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10" b="0">
                          <a:solidFill>
                            <a:srgbClr val="171A1F"/>
                          </a:solidFill>
                          <a:latin typeface="Aptos"/>
                        </a:rPr>
                        <a:t>229.9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210" b="1">
                          <a:solidFill>
                            <a:srgbClr val="171A1F"/>
                          </a:solidFill>
                          <a:latin typeface="Aptos"/>
                        </a:rPr>
                        <a:t>OCF less capex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10" b="0">
                          <a:solidFill>
                            <a:srgbClr val="171A1F"/>
                          </a:solidFill>
                          <a:latin typeface="Aptos"/>
                        </a:rPr>
                        <a:t>33.4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10" b="0">
                          <a:solidFill>
                            <a:srgbClr val="171A1F"/>
                          </a:solidFill>
                          <a:latin typeface="Aptos"/>
                        </a:rPr>
                        <a:t>(67.7)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10" b="0">
                          <a:solidFill>
                            <a:srgbClr val="171A1F"/>
                          </a:solidFill>
                          <a:latin typeface="Aptos"/>
                        </a:rPr>
                        <a:t>222.0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10" b="0">
                          <a:solidFill>
                            <a:srgbClr val="171A1F"/>
                          </a:solidFill>
                          <a:latin typeface="Aptos"/>
                        </a:rPr>
                        <a:t>213.7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E7C89"/>
                </a:solidFill>
                <a:latin typeface="Aptos"/>
              </a:rPr>
              <a:t>SALESFORCE  →  GITLAB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16459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FORECAST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57200"/>
            <a:ext cx="11384280" cy="18288"/>
          </a:xfrm>
          <a:prstGeom prst="rect">
            <a:avLst/>
          </a:prstGeom>
          <a:solidFill>
            <a:srgbClr val="DF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94944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500" b="1">
                <a:solidFill>
                  <a:srgbClr val="122C49"/>
                </a:solidFill>
                <a:latin typeface="Aptos"/>
              </a:rPr>
              <a:t>Margin expansion and SBC normalization drive the valuation case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53312"/>
          <a:ext cx="1088136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1954530"/>
                <a:gridCol w="1954530"/>
                <a:gridCol w="1954530"/>
                <a:gridCol w="1954530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160" b="1">
                          <a:solidFill>
                            <a:srgbClr val="FFFFFF"/>
                          </a:solidFill>
                          <a:latin typeface="Aptos"/>
                        </a:rPr>
                        <a:t>GitLab forecast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1">
                          <a:solidFill>
                            <a:srgbClr val="FFFFFF"/>
                          </a:solidFill>
                          <a:latin typeface="Aptos"/>
                        </a:rPr>
                        <a:t>FY2027E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1">
                          <a:solidFill>
                            <a:srgbClr val="FFFFFF"/>
                          </a:solidFill>
                          <a:latin typeface="Aptos"/>
                        </a:rPr>
                        <a:t>FY2028E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1">
                          <a:solidFill>
                            <a:srgbClr val="FFFFFF"/>
                          </a:solidFill>
                          <a:latin typeface="Aptos"/>
                        </a:rPr>
                        <a:t>FY2030E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1">
                          <a:solidFill>
                            <a:srgbClr val="FFFFFF"/>
                          </a:solidFill>
                          <a:latin typeface="Aptos"/>
                        </a:rPr>
                        <a:t>FY2032E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160" b="1">
                          <a:solidFill>
                            <a:srgbClr val="171A1F"/>
                          </a:solidFill>
                          <a:latin typeface="Aptos"/>
                        </a:rPr>
                        <a:t>Revenue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1,131.0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1,334.6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1,764.8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2,174.3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160" b="1">
                          <a:solidFill>
                            <a:srgbClr val="171A1F"/>
                          </a:solidFill>
                          <a:latin typeface="Aptos"/>
                        </a:rPr>
                        <a:t>EBIT margin before SBC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14.0%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20.0%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27.0%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31.0%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160" b="1">
                          <a:solidFill>
                            <a:srgbClr val="171A1F"/>
                          </a:solidFill>
                          <a:latin typeface="Aptos"/>
                        </a:rPr>
                        <a:t>SBC / revenue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23.0%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22.0%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18.0%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14.0%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160" b="1">
                          <a:solidFill>
                            <a:srgbClr val="171A1F"/>
                          </a:solidFill>
                          <a:latin typeface="Aptos"/>
                        </a:rPr>
                        <a:t>GAAP EBIT margin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(9.0%)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(2.0%)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9.0%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17.0%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160" b="1">
                          <a:solidFill>
                            <a:srgbClr val="171A1F"/>
                          </a:solidFill>
                          <a:latin typeface="Aptos"/>
                        </a:rPr>
                        <a:t>Unlevered FCF after SBC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(155.5)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12.6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164.1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322.7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E7C89"/>
                </a:solidFill>
                <a:latin typeface="Aptos"/>
              </a:rPr>
              <a:t>SALESFORCE  →  GITLAB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16459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TRADING COMPARABLES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57200"/>
            <a:ext cx="11384280" cy="18288"/>
          </a:xfrm>
          <a:prstGeom prst="rect">
            <a:avLst/>
          </a:prstGeom>
          <a:solidFill>
            <a:srgbClr val="DF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94944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500" b="1">
                <a:solidFill>
                  <a:srgbClr val="122C49"/>
                </a:solidFill>
                <a:latin typeface="Aptos"/>
              </a:rPr>
              <a:t>Peer trading multiples provide context, not acquisition economics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53312"/>
          <a:ext cx="1120139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737360"/>
                <a:gridCol w="2057400"/>
                <a:gridCol w="1965960"/>
                <a:gridCol w="1874519"/>
                <a:gridCol w="1691640"/>
              </a:tblGrid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Peer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EV ($m)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Forward revenue ($m)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EV / forward revenue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Quarter revenue growth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Implied GitLab price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171A1F"/>
                          </a:solidFill>
                          <a:latin typeface="Aptos"/>
                        </a:rPr>
                        <a:t>Atlassian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71A1F"/>
                          </a:solidFill>
                          <a:latin typeface="Aptos"/>
                        </a:rPr>
                        <a:t>47,677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71A1F"/>
                          </a:solidFill>
                          <a:latin typeface="Aptos"/>
                        </a:rPr>
                        <a:t>7,427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71A1F"/>
                          </a:solidFill>
                          <a:latin typeface="Aptos"/>
                        </a:rPr>
                        <a:t>6.4x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71A1F"/>
                          </a:solidFill>
                          <a:latin typeface="Aptos"/>
                        </a:rPr>
                        <a:t>27.6%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71A1F"/>
                          </a:solidFill>
                          <a:latin typeface="Aptos"/>
                        </a:rPr>
                        <a:t>$53.26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171A1F"/>
                          </a:solidFill>
                          <a:latin typeface="Aptos"/>
                        </a:rPr>
                        <a:t>Datadog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71A1F"/>
                          </a:solidFill>
                          <a:latin typeface="Aptos"/>
                        </a:rPr>
                        <a:t>71,872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71A1F"/>
                          </a:solidFill>
                          <a:latin typeface="Aptos"/>
                        </a:rPr>
                        <a:t>5,110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71A1F"/>
                          </a:solidFill>
                          <a:latin typeface="Aptos"/>
                        </a:rPr>
                        <a:t>14.1x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71A1F"/>
                          </a:solidFill>
                          <a:latin typeface="Aptos"/>
                        </a:rPr>
                        <a:t>35.6%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71A1F"/>
                          </a:solidFill>
                          <a:latin typeface="Aptos"/>
                        </a:rPr>
                        <a:t>$108.63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171A1F"/>
                          </a:solidFill>
                          <a:latin typeface="Aptos"/>
                        </a:rPr>
                        <a:t>JFrog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71A1F"/>
                          </a:solidFill>
                          <a:latin typeface="Aptos"/>
                        </a:rPr>
                        <a:t>9,847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71A1F"/>
                          </a:solidFill>
                          <a:latin typeface="Aptos"/>
                        </a:rPr>
                        <a:t>733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71A1F"/>
                          </a:solidFill>
                          <a:latin typeface="Aptos"/>
                        </a:rPr>
                        <a:t>13.4x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71A1F"/>
                          </a:solidFill>
                          <a:latin typeface="Aptos"/>
                        </a:rPr>
                        <a:t>28.8%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71A1F"/>
                          </a:solidFill>
                          <a:latin typeface="Aptos"/>
                        </a:rPr>
                        <a:t>$104.01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171A1F"/>
                          </a:solidFill>
                          <a:latin typeface="Aptos"/>
                        </a:rPr>
                        <a:t>Range / median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71A1F"/>
                          </a:solidFill>
                          <a:latin typeface="Aptos"/>
                        </a:rPr>
                        <a:t>-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71A1F"/>
                          </a:solidFill>
                          <a:latin typeface="Aptos"/>
                        </a:rPr>
                        <a:t>-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71A1F"/>
                          </a:solidFill>
                          <a:latin typeface="Aptos"/>
                        </a:rPr>
                        <a:t>6.4x - 14.1x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71A1F"/>
                          </a:solidFill>
                          <a:latin typeface="Aptos"/>
                        </a:rPr>
                        <a:t>-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71A1F"/>
                          </a:solidFill>
                          <a:latin typeface="Aptos"/>
                        </a:rPr>
                        <a:t>$53.26 - $108.63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E7C89"/>
                </a:solidFill>
                <a:latin typeface="Aptos"/>
              </a:rPr>
              <a:t>SALESFORCE  →  GITLAB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16459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PRECEDENT TRANSACTIONS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57200"/>
            <a:ext cx="11384280" cy="18288"/>
          </a:xfrm>
          <a:prstGeom prst="rect">
            <a:avLst/>
          </a:prstGeom>
          <a:solidFill>
            <a:srgbClr val="DF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94944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500" b="1">
                <a:solidFill>
                  <a:srgbClr val="122C49"/>
                </a:solidFill>
                <a:latin typeface="Aptos"/>
              </a:rPr>
              <a:t>Precedents support strategic relevance, not a precise valuation range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53312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148840"/>
                <a:gridCol w="1828800"/>
                <a:gridCol w="2743200"/>
                <a:gridCol w="1645920"/>
              </a:tblGrid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Announced / target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Acquirer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Headline value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Basis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EV / revenue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2024 | HashiCorp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IBM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$6.4bn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Enterprise value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11.0x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2023 | New Relic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FP / TPG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$6.5bn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Equity value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2023 | Sumo Logic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Francisco Partners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$1.7bn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Equity value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2018 | GitHub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Microsoft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$7.5bn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Stock consideration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2017 | AppDynamics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Cisco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$3.7bn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Cash + awards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E7C89"/>
                </a:solidFill>
                <a:latin typeface="Aptos"/>
              </a:rPr>
              <a:t>SALESFORCE  →  GITLAB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16459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DISCOUNTED CASH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57200"/>
            <a:ext cx="11384280" cy="18288"/>
          </a:xfrm>
          <a:prstGeom prst="rect">
            <a:avLst/>
          </a:prstGeom>
          <a:solidFill>
            <a:srgbClr val="DF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94944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500" b="1">
                <a:solidFill>
                  <a:srgbClr val="122C49"/>
                </a:solidFill>
                <a:latin typeface="Aptos"/>
              </a:rPr>
              <a:t>SBC-explicit DCF value is below the reference market price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536192"/>
          <a:ext cx="11301984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472184"/>
                <a:gridCol w="1472184"/>
                <a:gridCol w="1472184"/>
                <a:gridCol w="1472184"/>
                <a:gridCol w="1472184"/>
                <a:gridCol w="1472184"/>
              </a:tblGrid>
              <a:tr h="76581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USD millions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FY2027E(1)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FY2028E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FY2029E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FY2030E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FY2031E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FY2032E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71A1F"/>
                          </a:solidFill>
                          <a:latin typeface="Aptos"/>
                        </a:rPr>
                        <a:t>GAAP EBIT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71A1F"/>
                          </a:solidFill>
                          <a:latin typeface="Aptos"/>
                        </a:rPr>
                        <a:t>(101.8)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71A1F"/>
                          </a:solidFill>
                          <a:latin typeface="Aptos"/>
                        </a:rPr>
                        <a:t>(26.7)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71A1F"/>
                          </a:solidFill>
                          <a:latin typeface="Aptos"/>
                        </a:rPr>
                        <a:t>61.9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71A1F"/>
                          </a:solidFill>
                          <a:latin typeface="Aptos"/>
                        </a:rPr>
                        <a:t>158.8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71A1F"/>
                          </a:solidFill>
                          <a:latin typeface="Aptos"/>
                        </a:rPr>
                        <a:t>257.0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71A1F"/>
                          </a:solidFill>
                          <a:latin typeface="Aptos"/>
                        </a:rPr>
                        <a:t>369.6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71A1F"/>
                          </a:solidFill>
                          <a:latin typeface="Aptos"/>
                        </a:rPr>
                        <a:t>Full-year unlevered FCF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71A1F"/>
                          </a:solidFill>
                          <a:latin typeface="Aptos"/>
                        </a:rPr>
                        <a:t>(155.5)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71A1F"/>
                          </a:solidFill>
                          <a:latin typeface="Aptos"/>
                        </a:rPr>
                        <a:t>12.6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71A1F"/>
                          </a:solidFill>
                          <a:latin typeface="Aptos"/>
                        </a:rPr>
                        <a:t>88.9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71A1F"/>
                          </a:solidFill>
                          <a:latin typeface="Aptos"/>
                        </a:rPr>
                        <a:t>164.1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71A1F"/>
                          </a:solidFill>
                          <a:latin typeface="Aptos"/>
                        </a:rPr>
                        <a:t>238.6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71A1F"/>
                          </a:solidFill>
                          <a:latin typeface="Aptos"/>
                        </a:rPr>
                        <a:t>322.7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71A1F"/>
                          </a:solidFill>
                          <a:latin typeface="Aptos"/>
                        </a:rPr>
                        <a:t>PV of included FCF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71A1F"/>
                          </a:solidFill>
                          <a:latin typeface="Aptos"/>
                        </a:rPr>
                        <a:t>(60.7)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71A1F"/>
                          </a:solidFill>
                          <a:latin typeface="Aptos"/>
                        </a:rPr>
                        <a:t>10.8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71A1F"/>
                          </a:solidFill>
                          <a:latin typeface="Aptos"/>
                        </a:rPr>
                        <a:t>68.4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71A1F"/>
                          </a:solidFill>
                          <a:latin typeface="Aptos"/>
                        </a:rPr>
                        <a:t>113.2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71A1F"/>
                          </a:solidFill>
                          <a:latin typeface="Aptos"/>
                        </a:rPr>
                        <a:t>147.7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171A1F"/>
                          </a:solidFill>
                          <a:latin typeface="Aptos"/>
                        </a:rPr>
                        <a:t>179.1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057400" y="1353312"/>
          <a:ext cx="80924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2697480"/>
              </a:tblGrid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1060" b="1">
                          <a:solidFill>
                            <a:srgbClr val="FFFFFF"/>
                          </a:solidFill>
                          <a:latin typeface="Aptos"/>
                        </a:rPr>
                        <a:t>Valuation output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>
                          <a:solidFill>
                            <a:srgbClr val="FF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1060" b="1">
                          <a:solidFill>
                            <a:srgbClr val="171A1F"/>
                          </a:solidFill>
                          <a:latin typeface="Aptos"/>
                        </a:rPr>
                        <a:t>Gordon value / share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71A1F"/>
                          </a:solidFill>
                          <a:latin typeface="Aptos"/>
                        </a:rPr>
                        <a:t>$20.31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1060" b="1">
                          <a:solidFill>
                            <a:srgbClr val="171A1F"/>
                          </a:solidFill>
                          <a:latin typeface="Aptos"/>
                        </a:rPr>
                        <a:t>20x GAAP EBIT exit value / share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71A1F"/>
                          </a:solidFill>
                          <a:latin typeface="Aptos"/>
                        </a:rPr>
                        <a:t>$33.24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1060" b="1">
                          <a:solidFill>
                            <a:srgbClr val="171A1F"/>
                          </a:solidFill>
                          <a:latin typeface="Aptos"/>
                        </a:rPr>
                        <a:t>Terminal PV / Gordon EV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71A1F"/>
                          </a:solidFill>
                          <a:latin typeface="Aptos"/>
                        </a:rPr>
                        <a:t>80.4%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E7C89"/>
                </a:solidFill>
                <a:latin typeface="Aptos"/>
              </a:rPr>
              <a:t>SALESFORCE  →  GITLAB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16459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VALUATION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57200"/>
            <a:ext cx="11384280" cy="18288"/>
          </a:xfrm>
          <a:prstGeom prst="rect">
            <a:avLst/>
          </a:prstGeom>
          <a:solidFill>
            <a:srgbClr val="DF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94944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500" b="1">
                <a:solidFill>
                  <a:srgbClr val="122C49"/>
                </a:solidFill>
                <a:latin typeface="Aptos"/>
              </a:rPr>
              <a:t>Valuation methods diverge; do not average them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08760"/>
          <a:ext cx="10881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0440"/>
                <a:gridCol w="2560320"/>
                <a:gridCol w="4800600"/>
              </a:tblGrid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130" b="1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FFFFFF"/>
                          </a:solidFill>
                          <a:latin typeface="Aptos"/>
                        </a:rPr>
                        <a:t>Implied value / share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ptos"/>
                        </a:rPr>
                        <a:t>Decision use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130" b="1">
                          <a:solidFill>
                            <a:srgbClr val="171A1F"/>
                          </a:solidFill>
                          <a:latin typeface="Aptos"/>
                        </a:rPr>
                        <a:t>DCF: WACC / growth grid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$16.46 - $28.07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Primary intrinsic-value range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130" b="1">
                          <a:solidFill>
                            <a:srgbClr val="171A1F"/>
                          </a:solidFill>
                          <a:latin typeface="Aptos"/>
                        </a:rPr>
                        <a:t>DCF: 20x EBIT exit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$33.24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Higher intrinsic-value marker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130" b="1">
                          <a:solidFill>
                            <a:srgbClr val="171A1F"/>
                          </a:solidFill>
                          <a:latin typeface="Aptos"/>
                        </a:rPr>
                        <a:t>Trading comparables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$53.26 - $108.63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ptos"/>
                        </a:rPr>
                        <a:t>Market-based reference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130" b="1">
                          <a:solidFill>
                            <a:srgbClr val="171A1F"/>
                          </a:solidFill>
                          <a:latin typeface="Aptos"/>
                        </a:rPr>
                        <a:t>HashiCorp multiple marker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$73.99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ptos"/>
                        </a:rPr>
                        <a:t>Single precedent marker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130" b="1">
                          <a:solidFill>
                            <a:srgbClr val="171A1F"/>
                          </a:solidFill>
                          <a:latin typeface="Aptos"/>
                        </a:rPr>
                        <a:t>Current reference close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$49.83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Unaffected market reference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l"/>
                      <a:r>
                        <a:rPr sz="1130" b="1">
                          <a:solidFill>
                            <a:srgbClr val="171A1F"/>
                          </a:solidFill>
                          <a:latin typeface="Aptos"/>
                        </a:rPr>
                        <a:t>Illustrative offer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$62.29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Tested acquisition price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E7C89"/>
                </a:solidFill>
                <a:latin typeface="Aptos"/>
              </a:rPr>
              <a:t>SALESFORCE  →  GITLAB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16459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TRANSACTION AND FINANCING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57200"/>
            <a:ext cx="11384280" cy="18288"/>
          </a:xfrm>
          <a:prstGeom prst="rect">
            <a:avLst/>
          </a:prstGeom>
          <a:solidFill>
            <a:srgbClr val="DF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94944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500" b="1">
                <a:solidFill>
                  <a:srgbClr val="122C49"/>
                </a:solidFill>
                <a:latin typeface="Aptos"/>
              </a:rPr>
              <a:t>Base case uses 25% cash / 25% debt / 50% stock funding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353312"/>
          <a:ext cx="996695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874519"/>
                <a:gridCol w="3108960"/>
                <a:gridCol w="1874519"/>
              </a:tblGrid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160" b="1">
                          <a:solidFill>
                            <a:srgbClr val="FFFFFF"/>
                          </a:solidFill>
                          <a:latin typeface="Aptos"/>
                        </a:rPr>
                        <a:t>Uses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1">
                          <a:solidFill>
                            <a:srgbClr val="FFFFFF"/>
                          </a:solidFill>
                          <a:latin typeface="Aptos"/>
                        </a:rPr>
                        <a:t>USD m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1">
                          <a:solidFill>
                            <a:srgbClr val="FFFFFF"/>
                          </a:solidFill>
                          <a:latin typeface="Aptos"/>
                        </a:rPr>
                        <a:t>Sources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1">
                          <a:solidFill>
                            <a:srgbClr val="FFFFFF"/>
                          </a:solidFill>
                          <a:latin typeface="Aptos"/>
                        </a:rPr>
                        <a:t>USD m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160" b="1">
                          <a:solidFill>
                            <a:srgbClr val="171A1F"/>
                          </a:solidFill>
                          <a:latin typeface="Aptos"/>
                        </a:rPr>
                        <a:t>Equity purchase price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10,731.0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Salesforce cash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2,830.3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160" b="1">
                          <a:solidFill>
                            <a:srgbClr val="171A1F"/>
                          </a:solidFill>
                          <a:latin typeface="Aptos"/>
                        </a:rPr>
                        <a:t>Target debt refinance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0.0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New debt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2,682.7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160" b="1">
                          <a:solidFill>
                            <a:srgbClr val="171A1F"/>
                          </a:solidFill>
                          <a:latin typeface="Aptos"/>
                        </a:rPr>
                        <a:t>Advisory / legal fees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107.3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Salesforce shares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5,365.5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160" b="1">
                          <a:solidFill>
                            <a:srgbClr val="171A1F"/>
                          </a:solidFill>
                          <a:latin typeface="Aptos"/>
                        </a:rPr>
                        <a:t>Debt issuance fees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40.2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Total sources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10,878.5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160" b="1">
                          <a:solidFill>
                            <a:srgbClr val="171A1F"/>
                          </a:solidFill>
                          <a:latin typeface="Aptos"/>
                        </a:rPr>
                        <a:t>Total uses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10,878.5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Sources less uses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E7C89"/>
                </a:solidFill>
                <a:latin typeface="Aptos"/>
              </a:rPr>
              <a:t>SALESFORCE  →  GITLAB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16459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PURCHASE ACCOUNTING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57200"/>
            <a:ext cx="11384280" cy="18288"/>
          </a:xfrm>
          <a:prstGeom prst="rect">
            <a:avLst/>
          </a:prstGeom>
          <a:solidFill>
            <a:srgbClr val="DF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94944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500" b="1">
                <a:solidFill>
                  <a:srgbClr val="122C49"/>
                </a:solidFill>
                <a:latin typeface="Aptos"/>
              </a:rPr>
              <a:t>Purchase amortization is a material drag on reported EPS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53312"/>
          <a:ext cx="1088136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240280"/>
                <a:gridCol w="1920240"/>
                <a:gridCol w="2880360"/>
              </a:tblGrid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130" b="1">
                          <a:solidFill>
                            <a:srgbClr val="FFFFFF"/>
                          </a:solidFill>
                          <a:latin typeface="Aptos"/>
                        </a:rPr>
                        <a:t>Incremental intangible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FFFFFF"/>
                          </a:solidFill>
                          <a:latin typeface="Aptos"/>
                        </a:rPr>
                        <a:t>Write-up ($m)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FFFFFF"/>
                          </a:solidFill>
                          <a:latin typeface="Aptos"/>
                        </a:rPr>
                        <a:t>Life (years)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FFFFFF"/>
                          </a:solidFill>
                          <a:latin typeface="Aptos"/>
                        </a:rPr>
                        <a:t>Annual amortization ($m)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130" b="1">
                          <a:solidFill>
                            <a:srgbClr val="171A1F"/>
                          </a:solidFill>
                          <a:latin typeface="Aptos"/>
                        </a:rPr>
                        <a:t>Customer relationships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2,008.9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200.9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130" b="1">
                          <a:solidFill>
                            <a:srgbClr val="171A1F"/>
                          </a:solidFill>
                          <a:latin typeface="Aptos"/>
                        </a:rPr>
                        <a:t>Developed technology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1,171.8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234.4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130" b="1">
                          <a:solidFill>
                            <a:srgbClr val="171A1F"/>
                          </a:solidFill>
                          <a:latin typeface="Aptos"/>
                        </a:rPr>
                        <a:t>Trade names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167.4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33.5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130" b="1">
                          <a:solidFill>
                            <a:srgbClr val="171A1F"/>
                          </a:solidFill>
                          <a:latin typeface="Aptos"/>
                        </a:rPr>
                        <a:t>Total / output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3,348.1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-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71A1F"/>
                          </a:solidFill>
                          <a:latin typeface="Aptos"/>
                        </a:rPr>
                        <a:t>468.7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920240" y="1353312"/>
          <a:ext cx="8321040" cy="1069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2743200"/>
              </a:tblGrid>
              <a:tr h="28041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Additional accounting outputs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Amount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1A1F"/>
                          </a:solidFill>
                          <a:latin typeface="Aptos"/>
                        </a:rPr>
                        <a:t>New goodwill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71A1F"/>
                          </a:solidFill>
                          <a:latin typeface="Aptos"/>
                        </a:rPr>
                        <a:t>$7.26bn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71A1F"/>
                          </a:solidFill>
                          <a:latin typeface="Aptos"/>
                        </a:rPr>
                        <a:t>New deferred tax liability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71A1F"/>
                          </a:solidFill>
                          <a:latin typeface="Aptos"/>
                        </a:rPr>
                        <a:t>$786.8m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E7C89"/>
                </a:solidFill>
                <a:latin typeface="Aptos"/>
              </a:rPr>
              <a:t>SALESFORCE  →  GITLAB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16459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SYNERGIES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57200"/>
            <a:ext cx="11384280" cy="18288"/>
          </a:xfrm>
          <a:prstGeom prst="rect">
            <a:avLst/>
          </a:prstGeom>
          <a:solidFill>
            <a:srgbClr val="DF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94944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500" b="1">
                <a:solidFill>
                  <a:srgbClr val="122C49"/>
                </a:solidFill>
                <a:latin typeface="Aptos"/>
              </a:rPr>
              <a:t>Cost synergy case is modest and excludes R&amp;D cuts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53312"/>
          <a:ext cx="10881360" cy="4206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560320"/>
                <a:gridCol w="1920240"/>
                <a:gridCol w="2560320"/>
              </a:tblGrid>
              <a:tr h="795527">
                <a:tc>
                  <a:txBody>
                    <a:bodyPr/>
                    <a:lstStyle/>
                    <a:p>
                      <a:pPr algn="l"/>
                      <a:r>
                        <a:rPr sz="1160" b="1">
                          <a:solidFill>
                            <a:srgbClr val="FFFFFF"/>
                          </a:solidFill>
                          <a:latin typeface="Aptos"/>
                        </a:rPr>
                        <a:t>Cost category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1">
                          <a:solidFill>
                            <a:srgbClr val="FFFFFF"/>
                          </a:solidFill>
                          <a:latin typeface="Aptos"/>
                        </a:rPr>
                        <a:t>Cash cost proxy ($m)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1">
                          <a:solidFill>
                            <a:srgbClr val="FFFFFF"/>
                          </a:solidFill>
                          <a:latin typeface="Aptos"/>
                        </a:rPr>
                        <a:t>Reduction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1">
                          <a:solidFill>
                            <a:srgbClr val="FFFFFF"/>
                          </a:solidFill>
                          <a:latin typeface="Aptos"/>
                        </a:rPr>
                        <a:t>Run-rate savings ($m)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 algn="l"/>
                      <a:r>
                        <a:rPr sz="1160" b="1">
                          <a:solidFill>
                            <a:srgbClr val="171A1F"/>
                          </a:solidFill>
                          <a:latin typeface="Aptos"/>
                        </a:rPr>
                        <a:t>Corporate / public-company G&amp;A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148.0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30.0%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44.4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 algn="l"/>
                      <a:r>
                        <a:rPr sz="1160" b="1">
                          <a:solidFill>
                            <a:srgbClr val="171A1F"/>
                          </a:solidFill>
                          <a:latin typeface="Aptos"/>
                        </a:rPr>
                        <a:t>Selling overlap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391.6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12.0%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47.0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 algn="l"/>
                      <a:r>
                        <a:rPr sz="1160" b="1">
                          <a:solidFill>
                            <a:srgbClr val="171A1F"/>
                          </a:solidFill>
                          <a:latin typeface="Aptos"/>
                        </a:rPr>
                        <a:t>Infrastructure and vendor costs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137.5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6.0%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8.2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795531">
                <a:tc>
                  <a:txBody>
                    <a:bodyPr/>
                    <a:lstStyle/>
                    <a:p>
                      <a:pPr algn="l"/>
                      <a:r>
                        <a:rPr sz="1160" b="1">
                          <a:solidFill>
                            <a:srgbClr val="171A1F"/>
                          </a:solidFill>
                          <a:latin typeface="Aptos"/>
                        </a:rPr>
                        <a:t>Total run-rate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-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-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60" b="0">
                          <a:solidFill>
                            <a:srgbClr val="171A1F"/>
                          </a:solidFill>
                          <a:latin typeface="Aptos"/>
                        </a:rPr>
                        <a:t>99.6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E7C89"/>
                </a:solidFill>
                <a:latin typeface="Aptos"/>
              </a:rPr>
              <a:t>SALESFORCE  →  GITLAB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16459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ACCRETION / DILUTION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57200"/>
            <a:ext cx="11384280" cy="18288"/>
          </a:xfrm>
          <a:prstGeom prst="rect">
            <a:avLst/>
          </a:prstGeom>
          <a:solidFill>
            <a:srgbClr val="DF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94944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500" b="1">
                <a:solidFill>
                  <a:srgbClr val="122C49"/>
                </a:solidFill>
                <a:latin typeface="Aptos"/>
              </a:rPr>
              <a:t>Recurring dilution remains through Year 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08760"/>
          <a:ext cx="112014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2468880"/>
                <a:gridCol w="2468880"/>
                <a:gridCol w="2468880"/>
              </a:tblGrid>
              <a:tr h="659674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EPS bridge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FY2028E / Year 1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FY2029E / Year 2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FY2030E / Year 3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171A1F"/>
                          </a:solidFill>
                          <a:latin typeface="Aptos"/>
                        </a:rPr>
                        <a:t>CRM standalone EPS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$8.93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$10.51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$11.88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171A1F"/>
                          </a:solidFill>
                          <a:latin typeface="Aptos"/>
                        </a:rPr>
                        <a:t>Recurring pro forma EPS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$8.06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$9.71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$11.17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171A1F"/>
                          </a:solidFill>
                          <a:latin typeface="Aptos"/>
                        </a:rPr>
                        <a:t>Recurring EPS impact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(9.7%)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(7.6%)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(5.9%)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171A1F"/>
                          </a:solidFill>
                          <a:latin typeface="Aptos"/>
                        </a:rPr>
                        <a:t>All-in EPS impact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(11.7%)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(7.9%)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(5.9%)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171A1F"/>
                          </a:solidFill>
                          <a:latin typeface="Aptos"/>
                        </a:rPr>
                        <a:t>Impact excluding new PPA(1)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(5.0%)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(3.5%)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(2.4%)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659676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171A1F"/>
                          </a:solidFill>
                          <a:latin typeface="Aptos"/>
                        </a:rPr>
                        <a:t>EPS-neutral run-rate savings ($m)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3,936.6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1,563.8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71A1F"/>
                          </a:solidFill>
                          <a:latin typeface="Aptos"/>
                        </a:rPr>
                        <a:t>878.5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E7C89"/>
                </a:solidFill>
                <a:latin typeface="Aptos"/>
              </a:rPr>
              <a:t>SALESFORCE  →  GITLAB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16459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SENSITIVITY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57200"/>
            <a:ext cx="11384280" cy="18288"/>
          </a:xfrm>
          <a:prstGeom prst="rect">
            <a:avLst/>
          </a:prstGeom>
          <a:solidFill>
            <a:srgbClr val="DF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94944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500" b="1">
                <a:solidFill>
                  <a:srgbClr val="122C49"/>
                </a:solidFill>
                <a:latin typeface="Aptos"/>
              </a:rPr>
              <a:t>Downside persists across the tested premium / synergy grid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53312"/>
          <a:ext cx="1088136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746504"/>
                <a:gridCol w="1746504"/>
                <a:gridCol w="1746504"/>
                <a:gridCol w="1746504"/>
                <a:gridCol w="1746504"/>
              </a:tblGrid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Premium / savings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$50m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$100m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$150m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$200m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$300m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A1F"/>
                          </a:solidFill>
                          <a:latin typeface="Aptos"/>
                        </a:rPr>
                        <a:t>15.0%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(5.6%)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(5.2%)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(4.9%)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(4.5%)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(3.7%)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A1F"/>
                          </a:solidFill>
                          <a:latin typeface="Aptos"/>
                        </a:rPr>
                        <a:t>20.0%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(6.0%)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(5.6%)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(5.2%)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(4.8%)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(4.1%)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A1F"/>
                          </a:solidFill>
                          <a:latin typeface="Aptos"/>
                        </a:rPr>
                        <a:t>25.0%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(6.3%)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(5.9%)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(5.5%)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(5.2%)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(4.4%)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A1F"/>
                          </a:solidFill>
                          <a:latin typeface="Aptos"/>
                        </a:rPr>
                        <a:t>30.0%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(6.7%)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(6.3%)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(5.9%)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(5.5%)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(4.7%)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A1F"/>
                          </a:solidFill>
                          <a:latin typeface="Aptos"/>
                        </a:rPr>
                        <a:t>35.0%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(7.0%)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(6.6%)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(6.2%)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(5.9%)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A1F"/>
                          </a:solidFill>
                          <a:latin typeface="Aptos"/>
                        </a:rPr>
                        <a:t>(5.1%)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E7C89"/>
                </a:solidFill>
                <a:latin typeface="Aptos"/>
              </a:rPr>
              <a:t>SALESFORCE  →  GITLAB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16459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57200"/>
            <a:ext cx="11384280" cy="18288"/>
          </a:xfrm>
          <a:prstGeom prst="rect">
            <a:avLst/>
          </a:prstGeom>
          <a:solidFill>
            <a:srgbClr val="DF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9717A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94944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500" b="1">
                <a:solidFill>
                  <a:srgbClr val="122C49"/>
                </a:solidFill>
                <a:latin typeface="Aptos"/>
              </a:rPr>
              <a:t>Final recommendation: pursue partnership; retain price discipline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53312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23360"/>
                <a:gridCol w="4114800"/>
              </a:tblGrid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FFFFFF"/>
                          </a:solidFill>
                          <a:latin typeface="Aptos"/>
                        </a:rPr>
                        <a:t>Decision lens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FFFFFF"/>
                          </a:solidFill>
                          <a:latin typeface="Aptos"/>
                        </a:rPr>
                        <a:t>Base result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FFFFFF"/>
                          </a:solidFill>
                          <a:latin typeface="Aptos"/>
                        </a:rPr>
                        <a:t>Conclusion</a:t>
                      </a:r>
                    </a:p>
                  </a:txBody>
                  <a:tcPr anchor="ctr" marL="76200" marR="76200" marT="25400" marB="25400">
                    <a:solidFill>
                      <a:srgbClr val="122C49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171A1F"/>
                          </a:solidFill>
                          <a:latin typeface="Aptos"/>
                        </a:rPr>
                        <a:t>Operating value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ptos"/>
                        </a:rPr>
                        <a:t>SBC-explicit DCF and net synergies remain below consideration and fees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ptos"/>
                        </a:rPr>
                        <a:t>Defer acquisition at the modeled offer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171A1F"/>
                          </a:solidFill>
                          <a:latin typeface="Aptos"/>
                        </a:rPr>
                        <a:t>Financing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ptos"/>
                        </a:rPr>
                        <a:t>25 / 25 / 50 mix preserves liquidity with persistent dilution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ptos"/>
                        </a:rPr>
                        <a:t>Funding structure is secondary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171A1F"/>
                          </a:solidFill>
                          <a:latin typeface="Aptos"/>
                        </a:rPr>
                        <a:t>Strategic necessity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ptos"/>
                        </a:rPr>
                        <a:t>Integration, pilots and co-selling validate customer pull-through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ptos"/>
                        </a:rPr>
                        <a:t>Partnership-first route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171A1F"/>
                          </a:solidFill>
                          <a:latin typeface="Aptos"/>
                        </a:rPr>
                        <a:t>Revisit trigger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ptos"/>
                        </a:rPr>
                        <a:t>Revenue pull-through, lower SBC, higher savings or materially lower price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ptos"/>
                        </a:rPr>
                        <a:t>Reopen only with improved economics</a:t>
                      </a:r>
                    </a:p>
                  </a:txBody>
                  <a:tcPr anchor="ctr" marL="76200" marR="76200" marT="25400" marB="2540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